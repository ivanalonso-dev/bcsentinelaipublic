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5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PREPARED FOR INSTITUTIONAL ALLOCATORS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institutional protocol
</a:t>
            </a:r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built </a:t>
            </a:r>
            <a:pPr indent="0" marL="0">
              <a:lnSpc>
                <a:spcPct val="108000"/>
              </a:lnSpc>
              <a:buNone/>
            </a:pPr>
            <a:r>
              <a:rPr lang="en-US" sz="4800" b="1" i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known.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finds that construction phase on-chain — months before the market does.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0" cy="1280160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5779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MAX LEAD TIME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(SAFEDAO)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5779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EMPIRICALLY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 DATE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5120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5779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LEAD TIME ON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RESOLVABLE CASES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355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institutions already pay for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them what already happened.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formation shows up anywhere else, the window that mattered has already closed.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0058400" cy="713232"/>
          </a:xfrm>
          <a:prstGeom prst="roundRect">
            <a:avLst>
              <a:gd name="adj" fmla="val 11538"/>
            </a:avLst>
          </a:prstGeom>
          <a:solidFill>
            <a:srgbClr val="2A2B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8803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Nansen / Arkham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0" y="2898648"/>
            <a:ext cx="0" cy="493776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2862072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attribution — after the wallets are already known and labeled.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10058400" cy="713232"/>
          </a:xfrm>
          <a:prstGeom prst="roundRect">
            <a:avLst>
              <a:gd name="adj" fmla="val 11538"/>
            </a:avLst>
          </a:prstGeom>
          <a:solidFill>
            <a:srgbClr val="2A2B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216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94760" y="3739896"/>
            <a:ext cx="0" cy="493776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370332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forensic tracing — built to explain incidents, not formations.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10058400" cy="713232"/>
          </a:xfrm>
          <a:prstGeom prst="roundRect">
            <a:avLst>
              <a:gd name="adj" fmla="val 11538"/>
            </a:avLst>
          </a:prstGeom>
          <a:solidFill>
            <a:srgbClr val="2A2B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5628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Glassnode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94760" y="4581144"/>
            <a:ext cx="0" cy="493776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4544568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indicators — on protocols that are already public.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312664"/>
            <a:ext cx="10058400" cy="713232"/>
          </a:xfrm>
          <a:prstGeom prst="roundRect">
            <a:avLst>
              <a:gd name="adj" fmla="val 11538"/>
            </a:avLst>
          </a:prstGeom>
          <a:solidFill>
            <a:srgbClr val="2A2B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40410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Terminal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94760" y="5422392"/>
            <a:ext cx="0" cy="493776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5385816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on-chain formation layer. Not built for this asset class's earliest signal.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6263640"/>
            <a:ext cx="10058400" cy="566928"/>
          </a:xfrm>
          <a:prstGeom prst="roundRect">
            <a:avLst>
              <a:gd name="adj" fmla="val 14516"/>
            </a:avLst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6263640"/>
            <a:ext cx="10058400" cy="566928"/>
          </a:xfrm>
          <a:prstGeom prst="roundRect">
            <a:avLst>
              <a:gd name="adj" fmla="val 14516"/>
            </a:avLst>
          </a:prstGeom>
          <a:solidFill>
            <a:srgbClr val="E5564A">
              <a:alpha val="15000"/>
            </a:srgbClr>
          </a:solidFill>
          <a:ln w="12700">
            <a:solidFill>
              <a:srgbClr val="E556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626364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formation phase is the one phase none of them cover — and it's the only phase where the information asymmetry still exists.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EARLY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capital already pays a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for earlier access.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91840" cy="3566160"/>
          </a:xfrm>
          <a:prstGeom prst="roundRect">
            <a:avLst>
              <a:gd name="adj" fmla="val 2500"/>
            </a:avLst>
          </a:prstGeom>
          <a:solidFill>
            <a:srgbClr val="2A2B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valuation step-up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Seed to Series 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Carta, “Startup step-up multiples,” 2024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331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premium holds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7249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 compresses as a company matures publicly. The premium reflects access to a window that closes — not a forecast of returns.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4564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reasoning, not a cited statistic.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4069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4462272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investors compete intensely to position earlier, because the same capital is systematically priced higher at every later stage. BCSentinel studies that earliest phase directly on-chain. It does not sell returns. It sells institutional visibility into a phase the market does not yet price.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ask what happened.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what is forming.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teams leave repeatable on-chain traces before they go public: wallet activity, multisig deployment, governance setup, token contracts. These signals are observable months — sometimes years — before launch.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063240" cy="2286000"/>
          </a:xfrm>
          <a:prstGeom prst="roundRect">
            <a:avLst>
              <a:gd name="adj" fmla="val 3600"/>
            </a:avLst>
          </a:prstGeom>
          <a:solidFill>
            <a:srgbClr val="2A2B3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566160"/>
            <a:ext cx="685800" cy="685800"/>
          </a:xfrm>
          <a:prstGeom prst="ellipse">
            <a:avLst/>
          </a:prstGeom>
          <a:solidFill>
            <a:srgbClr val="1FBF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566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434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on-chain signal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983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 it here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60520" y="3246120"/>
            <a:ext cx="3063240" cy="2286000"/>
          </a:xfrm>
          <a:prstGeom prst="roundRect">
            <a:avLst>
              <a:gd name="adj" fmla="val 3600"/>
            </a:avLst>
          </a:prstGeom>
          <a:solidFill>
            <a:srgbClr val="2A2B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3566160"/>
            <a:ext cx="685800" cy="685800"/>
          </a:xfrm>
          <a:prstGeom prst="ellipse">
            <a:avLst/>
          </a:prstGeom>
          <a:solidFill>
            <a:srgbClr val="0E96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3566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434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confirmed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983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alert sent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80960" y="3246120"/>
            <a:ext cx="3063240" cy="2286000"/>
          </a:xfrm>
          <a:prstGeom prst="roundRect">
            <a:avLst>
              <a:gd name="adj" fmla="val 3600"/>
            </a:avLst>
          </a:prstGeom>
          <a:solidFill>
            <a:srgbClr val="2A2B3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0" y="3566160"/>
            <a:ext cx="685800" cy="685800"/>
          </a:xfrm>
          <a:prstGeom prst="ellipse">
            <a:avLst/>
          </a:prstGeom>
          <a:solidFill>
            <a:srgbClr val="6B6D7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3566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1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44348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983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finds out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760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 / DLT = T3 − T2  →  the actionable window your desk gets that no one else does.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proprietary intelligence architecture,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zero. Nothing off the shelf.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script. Not a model wrapped around someone else's API. An original, modular intelligence platform engineered end-to-end for one discipline: Future Formation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9992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2834640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29992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64992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2834640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5312" y="29992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25312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2834640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5632" y="29992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31336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9959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428853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Intelligence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0" y="3831336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21" name="Shape 19"/>
          <p:cNvSpPr/>
          <p:nvPr/>
        </p:nvSpPr>
        <p:spPr>
          <a:xfrm>
            <a:off x="3364992" y="39959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64992" y="428853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Intelligence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0" y="3831336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25312" y="39959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25312" y="428853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Intelligence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21040" y="3831336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22222F"/>
          </a:solidFill>
          <a:ln/>
        </p:spPr>
      </p:sp>
      <p:sp>
        <p:nvSpPr>
          <p:cNvPr id="27" name="Shape 25"/>
          <p:cNvSpPr/>
          <p:nvPr/>
        </p:nvSpPr>
        <p:spPr>
          <a:xfrm>
            <a:off x="8485632" y="39959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FBF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85632" y="428853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74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33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ENGINES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5074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5733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5074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5733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595360" y="5074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0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5733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INFRASTRUCTURE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research prototype.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runs, unattended, right now.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operates as a continuous institutional pipeline — discovery, verification and alerting run autonomously, multiple times a week, with no manual sourcing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28016" cy="128016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7614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Discovery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74320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on-chain queries surface brand-new candidate wallets and auto-register every survivor for monitoring — no analyst has to go looking.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21608"/>
            <a:ext cx="128016" cy="128016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602736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Verification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58444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case is automatically re-checked against fresh evidence multiple times per week, advancing, stalling, or escalating on its own.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562856"/>
            <a:ext cx="128016" cy="128016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44398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State Tracking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4425696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formation is tracked through distinct, auditable stages — from first hypothesis, to internally confirmed formation, to the moment it actually goes public.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404104"/>
            <a:ext cx="128016" cy="128016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28523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Dual-Channel Alerting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526694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case crosses a threshold, the designated recipient is notified — verified working end-to-end, live.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cases. Reproducible on-chain.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invented data.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332720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920240"/>
                <a:gridCol w="1645920"/>
                <a:gridCol w="2468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 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+648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+592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Arbitrum DAO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+273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Ondo 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+176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EtherFi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+114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BF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96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on-chain wallet analysis (Ethereum L1) cross-referenced against public launch announcements. Full methodology available on request.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growing, self-auditing body of evidence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a one-time backtest.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52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EMPIRICALLY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 DATE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2.6×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852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VALIDATED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THIS YEAR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194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852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LEAD TIME ON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RESOLVABLE CASES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332720" cy="2286000"/>
          </a:xfrm>
          <a:prstGeom prst="roundRect">
            <a:avLst>
              <a:gd name="adj" fmla="val 3600"/>
            </a:avLst>
          </a:prstGeom>
          <a:solidFill>
            <a:srgbClr val="2A2B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Prospective Track Record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720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intelligence platforms tell you they were right. BCSentinel proves it structurally: every call the system makes is recorded at the moment it's made, then automatically checked against what actually happened. Outcomes feed back into the platform's own confidence calibration — the system's accuracy history compounds the same way its knowledge does.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6235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cherry-picking. No hindsight bias. The record is built forward, not reconstructed backward.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data. Not dashboards.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alpha, in its purest form.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91840" cy="3840480"/>
          </a:xfrm>
          <a:prstGeom prst="roundRect">
            <a:avLst>
              <a:gd name="adj" fmla="val 2500"/>
            </a:avLst>
          </a:prstGeom>
          <a:solidFill>
            <a:srgbClr val="2A2B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871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Formation Brief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· MANAGING PARTNER · INVESTMENT COMMITTEE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2743200" cy="0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663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No technical language. Answers one question directly: should we pay attention to this?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9664" y="2286000"/>
            <a:ext cx="3291840" cy="3840480"/>
          </a:xfrm>
          <a:prstGeom prst="roundRect">
            <a:avLst>
              <a:gd name="adj" fmla="val 2500"/>
            </a:avLst>
          </a:prstGeom>
          <a:solidFill>
            <a:srgbClr val="2A2B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3984" y="24871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Intelligence Report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RESEARCH TEAM · DIGITAL ASSET DESK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43984" y="4526280"/>
            <a:ext cx="2743200" cy="0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43984" y="4663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behavioral analysis: timeline, archetype, capital profile, ecosystem relationships, contradictory evidence.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9248" y="2286000"/>
            <a:ext cx="3291840" cy="3840480"/>
          </a:xfrm>
          <a:prstGeom prst="roundRect">
            <a:avLst>
              <a:gd name="adj" fmla="val 2500"/>
            </a:avLst>
          </a:prstGeom>
          <a:solidFill>
            <a:srgbClr val="2A2B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73568" y="24871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973568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Audit Report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spc="50" kern="0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ENGINEERING · DUE DILIGENCE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73568" y="4526280"/>
            <a:ext cx="2743200" cy="0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73568" y="4663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traces to specific on-chain evidence. Independently reproducible by your own quant team.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is not the code.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accumulated knowledge.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029200" cy="1600200"/>
          </a:xfrm>
          <a:prstGeom prst="roundRect">
            <a:avLst>
              <a:gd name="adj" fmla="val 5143"/>
            </a:avLst>
          </a:prstGeom>
          <a:solidFill>
            <a:srgbClr val="2A2B3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14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BF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441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empirical dataset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535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formation cases reconstructed by hand, each traced to a wallet, a transaction, and a public launch date.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2240280"/>
            <a:ext cx="5029200" cy="1600200"/>
          </a:xfrm>
          <a:prstGeom prst="roundRect">
            <a:avLst>
              <a:gd name="adj" fmla="val 5143"/>
            </a:avLst>
          </a:prstGeom>
          <a:solidFill>
            <a:srgbClr val="2A2B3A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2514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BF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441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signal libraries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9535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indicators weighted by discriminative power, derived from confirmed cases — never assumed.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029200" cy="1600200"/>
          </a:xfrm>
          <a:prstGeom prst="roundRect">
            <a:avLst>
              <a:gd name="adj" fmla="val 5143"/>
            </a:avLst>
          </a:prstGeom>
          <a:solidFill>
            <a:srgbClr val="2A2B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343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BF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analytical registries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823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 of formation patterns, archetypes and outcomes — the institutional memory the methodology runs 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4069080"/>
            <a:ext cx="5029200" cy="1600200"/>
          </a:xfrm>
          <a:prstGeom prst="roundRect">
            <a:avLst>
              <a:gd name="adj" fmla="val 5143"/>
            </a:avLst>
          </a:prstGeom>
          <a:solidFill>
            <a:srgbClr val="2A2B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343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FBF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7823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unwinds to its original evidence. Nothing in the record is asserted without a source.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can be rewritten in a quarter. This record took years to assemble and compounds every week it keeps running.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Pre-seed. Validated methodology.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stage is now.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accelerates the transition from a validated research platform into a continuously operating institutional intelligence infrastructure.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450592" cy="2011680"/>
          </a:xfrm>
          <a:prstGeom prst="roundRect">
            <a:avLst>
              <a:gd name="adj" fmla="val 4091"/>
            </a:avLst>
          </a:prstGeom>
          <a:solidFill>
            <a:srgbClr val="2A2B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42900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Infrastructure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06908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blockchain + compute for continuous, 24/7 institutional monitoring.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9544" y="2788920"/>
            <a:ext cx="2450592" cy="2011680"/>
          </a:xfrm>
          <a:prstGeom prst="roundRect">
            <a:avLst>
              <a:gd name="adj" fmla="val 4091"/>
            </a:avLst>
          </a:prstGeom>
          <a:solidFill>
            <a:srgbClr val="2A2B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342900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Blockchain Intelligence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406908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toward 60,000–120,000 strategically selected transactions analyzed per day.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79008" y="2788920"/>
            <a:ext cx="2450592" cy="2011680"/>
          </a:xfrm>
          <a:prstGeom prst="roundRect">
            <a:avLst>
              <a:gd name="adj" fmla="val 4091"/>
            </a:avLst>
          </a:prstGeom>
          <a:solidFill>
            <a:srgbClr val="2A2B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80176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980176" y="342900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Infrastructure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80176" y="406908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reasoning for evidence interpretation, attribution and report generation.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48472" y="2788920"/>
            <a:ext cx="2450592" cy="2011680"/>
          </a:xfrm>
          <a:prstGeom prst="roundRect">
            <a:avLst>
              <a:gd name="adj" fmla="val 4091"/>
            </a:avLst>
          </a:prstGeom>
          <a:solidFill>
            <a:srgbClr val="2A2B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944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42900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Deployment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406908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programmes, infrastructure hardening, and the first flagship institutional partnerships.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transformed access to financial information. Palantir transformed complex data into institutional decision intelligence. BCSentinel applies that same discipline to a phase of the market no one else is watching.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  ·  FUTURE FORMATION INTELLIGENCE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today's most important digital economic systems left observable formation signals months before anyone noticed…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earlier understanding of the next one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worth to your investment process?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price visibility. BCSentinel investigates formation. We believe the institutions who understand formation before visibility will hold one of the most valuable informational advantages in tomorrow's digital economy.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257800"/>
            <a:ext cx="9418320" cy="0"/>
          </a:xfrm>
          <a:prstGeom prst="line">
            <a:avLst/>
          </a:prstGeom>
          <a:noFill/>
          <a:ln w="12700">
            <a:solidFill>
              <a:srgbClr val="3A3B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BCSENTINEL AI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Future Formation Intelligence infrastructure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9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institutional investors.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5486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B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contact@bcsentinel.ai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5852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Institutional partners  ·  Accelerators &amp; grants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BCSentinel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BCSentinel AI - Institutional Pitch</dc:title>
  <dc:subject>PptxGenJS Presentation</dc:subject>
  <dc:creator>BCSentinel AI</dc:creator>
  <cp:lastModifiedBy>BCSentinel AI</cp:lastModifiedBy>
  <cp:revision>1</cp:revision>
  <dcterms:created xsi:type="dcterms:W3CDTF">2026-10-24T22:24:14Z</dcterms:created>
  <dcterms:modified xsi:type="dcterms:W3CDTF">2026-10-24T22:24:14Z</dcterms:modified>
</cp:coreProperties>
</file>