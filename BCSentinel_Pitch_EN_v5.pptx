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BFF6"/>
              </a:solidFill>
              <a:effectLst/>
            </c:spPr>
          </c:dPt>
          <c:dPt>
            <c:idx val="1"/>
            <c:bubble3D val="0"/>
            <c:spPr>
              <a:solidFill>
                <a:srgbClr val="2A2B3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Positive signal</c:v>
                </c:pt>
                <c:pt idx="1">
                  <c:v>Stealth / outside domain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institutional protocol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built </a:t>
            </a:r>
            <a:pPr algn="ctr" indent="0" marL="0">
              <a:buNone/>
            </a:pPr>
            <a:r>
              <a:rPr lang="en-US" sz="4600" b="1" i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 is known.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496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measures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construction phase.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FORMATION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BCSentinel detects that phase — </a:t>
            </a:r>
            <a:pPr indent="0" marL="0">
              <a:lnSpc>
                <a:spcPts val="4800"/>
              </a:lnSpc>
              <a:buNone/>
            </a:pPr>
            <a:r>
              <a:rPr lang="en-US" sz="4000" b="1" i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market does.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on-chain detection system that identifies institutional formation activity on Ethereum — months before public launch, evaluated against a reproducible empirical record.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max lead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SafeDAO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4754880"/>
            <a:ext cx="0" cy="105156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5196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avg. lead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resolved cases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4754880"/>
            <a:ext cx="0" cy="105156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68096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lead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resolvable cases to date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INSTITUTIONAL ALLOCATORS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analytics platform tells you what already happened.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85416"/>
            <a:ext cx="109728" cy="109728"/>
          </a:xfrm>
          <a:prstGeom prst="ellipse">
            <a:avLst/>
          </a:prstGeom>
          <a:solidFill>
            <a:srgbClr val="E556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391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Nansen / Arkham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0391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attribution after wallets are already known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52344"/>
            <a:ext cx="109728" cy="109728"/>
          </a:xfrm>
          <a:prstGeom prst="ellipse">
            <a:avLst/>
          </a:prstGeom>
          <a:solidFill>
            <a:srgbClr val="E556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6060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post-incident tracing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19272"/>
            <a:ext cx="109728" cy="109728"/>
          </a:xfrm>
          <a:prstGeom prst="ellipse">
            <a:avLst/>
          </a:prstGeom>
          <a:solidFill>
            <a:srgbClr val="E556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72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Glassnode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17296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indicators on already-public protocols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9728" cy="109728"/>
          </a:xfrm>
          <a:prstGeom prst="ellipse">
            <a:avLst/>
          </a:prstGeom>
          <a:solidFill>
            <a:srgbClr val="E556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398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7398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markets — no on-chain formation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81926"/>
          </a:solidFill>
          <a:ln/>
          <a:effectLst>
            <a:outerShdw sx="100000" sy="100000" kx="0" ky="0" algn="bl" rotWithShape="0" blurRad="177800" dist="50800" dir="5400000">
              <a:srgbClr val="0B0C1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5029200"/>
            <a:ext cx="777240" cy="77724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5231282"/>
            <a:ext cx="373075" cy="3730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65960" y="4892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time a protocol appears on any existing platform, the formation phase is already over.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FORMATION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capital already pays a premium for earlier access.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2222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2140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2907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valuation step-up from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to Series A (Q2 2024)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36118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Carta, “Startup step-up multiples,” 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22222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214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premium holds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907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 compresses as a company matures publicly. The premium reflects access to a window that closes — not a forecast of returns.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6118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reasoning, not a cited statistic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investors compete intensely to position earlier, because the same capital is systematically priced higher at every later stage.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4572000" cy="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74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1FBF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BCSentinel studies that earliest phase on-chain. It does not sell returns. It sells institutional visibility into a phase the market does not yet price.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ask what happened.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 what is forming.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teams leave repeatable on-chain traces before they go public: wallet activity, multisig deployment, governance setup, token contracts. These signals are observable months — sometimes years — before launch.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43800" y="868680"/>
            <a:ext cx="3977640" cy="5074920"/>
          </a:xfrm>
          <a:prstGeom prst="roundRect">
            <a:avLst>
              <a:gd name="adj" fmla="val 2299"/>
            </a:avLst>
          </a:prstGeom>
          <a:solidFill>
            <a:srgbClr val="18192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WINDOW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0" y="1691640"/>
            <a:ext cx="457200" cy="45720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2" y="18105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0" y="16642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58200" y="1911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on-chain signal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58200" y="2148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it here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92440" y="2148840"/>
            <a:ext cx="0" cy="713232"/>
          </a:xfrm>
          <a:prstGeom prst="line">
            <a:avLst/>
          </a:prstGeom>
          <a:noFill/>
          <a:ln w="19050">
            <a:solidFill>
              <a:srgbClr val="2A2B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7863840" y="2862072"/>
            <a:ext cx="457200" cy="45720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5820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458200" y="3081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confirmed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45820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alert sent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92440" y="3319272"/>
            <a:ext cx="0" cy="713232"/>
          </a:xfrm>
          <a:prstGeom prst="line">
            <a:avLst/>
          </a:prstGeom>
          <a:noFill/>
          <a:ln w="19050">
            <a:solidFill>
              <a:srgbClr val="2A2B3A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7863840" y="4032504"/>
            <a:ext cx="457200" cy="457200"/>
          </a:xfrm>
          <a:prstGeom prst="ellipse">
            <a:avLst/>
          </a:prstGeom>
          <a:solidFill>
            <a:srgbClr val="E5564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415137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4005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5820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458200" y="4489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finds out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863840" y="5248656"/>
            <a:ext cx="3383280" cy="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863840" y="538581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T3 − T1  → max. lead window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T3 − T2  → actionable window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cases. Reproducible on-chain. Zero invented data.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  <a:gridCol w="182880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9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9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launch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9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9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9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 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+648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+592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Arbitrum 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+273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Ondo 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+176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81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on-chain wallet analysis (Ethereum L1) cross-referenced against public launch announcements. Full methodology available on request.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positive lead time across resolvable cases investigated to date.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246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EARLY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3776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“resolvable” means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37760" y="220370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count cases where the founder wallet could be independently verified on-chain — no estimates, no inferred data.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3776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other 15% means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343814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whose construction happens off Ethereum L1 (L2-native, multi-chain). Not a model failure — a known boundary we are actively expanding.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3776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you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467258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can be independently re-derived by your quant team from public blockchain data in under an hour.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ENTRY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to exit is worth exactly as much as knowing when to enter.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C1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E4F7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83080" y="26151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signal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108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wallet shows institutional formation activity. Intelligence report issued at T2 — months before public launch.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4114800"/>
            <a:ext cx="461772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297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 has been building for 137 days. Safe deployed, governance live. Estimated launch: 4–6 weeks.”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81926"/>
          </a:solidFill>
          <a:ln/>
          <a:effectLst>
            <a:outerShdw sx="100000" sy="100000" kx="0" ky="0" algn="bl" rotWithShape="0" blurRad="127000" dist="38100" dir="5400000">
              <a:srgbClr val="0B0C1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E556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4524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5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06640" y="26151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signal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83680" y="3108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holding goes silent post-funding, or public claims diverge from on-chain activity.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83680" y="4114800"/>
            <a:ext cx="4617720" cy="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4297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“120 days of silence after $50M raise. Roadmap commitments unfulfilled on-chain. Exit window: open now.”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IP-EN">
    <p:bg>
      <p:bgPr>
        <a:solidFill>
          <a:srgbClr val="16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i="0" spc="300" kern="0" dirty="0">
                <a:solidFill>
                  <a:srgbClr val="8ec5ff"/>
                </a:solidFill>
                <a:latin typeface="JetBrains Mono" pitchFamily="34" charset="0"/>
              </a:rPr>
              <a:t>THE INTELLIGENCE PACKAGE</a:t>
            </a:r>
          </a:p>
        </p:txBody>
      </p:sp>
      <p:sp>
        <p:nvSpPr>
          <p:cNvPr id="3" name="t3"/>
          <p:cNvSpPr/>
          <p:nvPr/>
        </p:nvSpPr>
        <p:spPr>
          <a:xfrm>
            <a:off x="822960" y="914400"/>
            <a:ext cx="1060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ts val="3200"/>
              </a:lnSpc>
            </a:pPr>
            <a:r>
              <a:rPr lang="en-US" sz="2700" b="1" i="0" kern="0" dirty="0">
                <a:solidFill>
                  <a:srgbClr val="f8f9fa"/>
                </a:solidFill>
                <a:latin typeface="Instrument Serif" pitchFamily="34" charset="0"/>
              </a:rPr>
              <a:t>Every formation case generates three levels of intelligence.</a:t>
            </a:r>
          </a:p>
        </p:txBody>
      </p:sp>
      <p:sp>
        <p:nvSpPr>
          <p:cNvPr id="4" name="card4"/>
          <p:cNvSpPr/>
          <p:nvPr/>
        </p:nvSpPr>
        <p:spPr>
          <a:xfrm>
            <a:off x="822960" y="1828800"/>
            <a:ext cx="3474720" cy="384048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5" name="t5"/>
          <p:cNvSpPr/>
          <p:nvPr/>
        </p:nvSpPr>
        <p:spPr>
          <a:xfrm>
            <a:off x="1051560" y="2057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LEVEL 1</a:t>
            </a:r>
          </a:p>
        </p:txBody>
      </p:sp>
      <p:sp>
        <p:nvSpPr>
          <p:cNvPr id="6" name="t6"/>
          <p:cNvSpPr/>
          <p:nvPr/>
        </p:nvSpPr>
        <p:spPr>
          <a:xfrm>
            <a:off x="1051560" y="2331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2000"/>
              </a:lnSpc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Executive Formation Brief</a:t>
            </a:r>
          </a:p>
        </p:txBody>
      </p:sp>
      <p:sp>
        <p:nvSpPr>
          <p:cNvPr id="7" name="l7"/>
          <p:cNvSpPr/>
          <p:nvPr/>
        </p:nvSpPr>
        <p:spPr>
          <a:xfrm>
            <a:off x="1051560" y="292608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8" name="t8"/>
          <p:cNvSpPr/>
          <p:nvPr/>
        </p:nvSpPr>
        <p:spPr>
          <a:xfrm>
            <a:off x="1051560" y="3063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0" i="0" kern="0" dirty="0">
                <a:solidFill>
                  <a:srgbClr val="a5dce8"/>
                </a:solidFill>
                <a:latin typeface="Inter Tight" pitchFamily="34" charset="0"/>
              </a:rPr>
              <a:t>CIO  ·  Managing Partner  ·  Investment Committee</a:t>
            </a:r>
          </a:p>
        </p:txBody>
      </p:sp>
      <p:sp>
        <p:nvSpPr>
          <p:cNvPr id="9" name="t9"/>
          <p:cNvSpPr/>
          <p:nvPr/>
        </p:nvSpPr>
        <p:spPr>
          <a:xfrm>
            <a:off x="1051560" y="333756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0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One page. No technical language. Every formation case opens with a single question answered directly: should we pay attention to this? Includes confidence level, confirmed evidence and recommended immediate actions.</a:t>
            </a:r>
          </a:p>
        </p:txBody>
      </p:sp>
      <p:sp>
        <p:nvSpPr>
          <p:cNvPr id="10" name="card10"/>
          <p:cNvSpPr/>
          <p:nvPr/>
        </p:nvSpPr>
        <p:spPr>
          <a:xfrm>
            <a:off x="4572000" y="1828800"/>
            <a:ext cx="3474720" cy="384048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11" name="t11"/>
          <p:cNvSpPr/>
          <p:nvPr/>
        </p:nvSpPr>
        <p:spPr>
          <a:xfrm>
            <a:off x="4800600" y="2057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LEVEL 2</a:t>
            </a:r>
          </a:p>
        </p:txBody>
      </p:sp>
      <p:sp>
        <p:nvSpPr>
          <p:cNvPr id="12" name="t12"/>
          <p:cNvSpPr/>
          <p:nvPr/>
        </p:nvSpPr>
        <p:spPr>
          <a:xfrm>
            <a:off x="4800600" y="2331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2000"/>
              </a:lnSpc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Formation Intelligence Report</a:t>
            </a:r>
          </a:p>
        </p:txBody>
      </p:sp>
      <p:sp>
        <p:nvSpPr>
          <p:cNvPr id="13" name="l13"/>
          <p:cNvSpPr/>
          <p:nvPr/>
        </p:nvSpPr>
        <p:spPr>
          <a:xfrm>
            <a:off x="4800600" y="292608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14" name="t14"/>
          <p:cNvSpPr/>
          <p:nvPr/>
        </p:nvSpPr>
        <p:spPr>
          <a:xfrm>
            <a:off x="4800600" y="3063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0" i="0" kern="0" dirty="0">
                <a:solidFill>
                  <a:srgbClr val="a5dce8"/>
                </a:solidFill>
                <a:latin typeface="Inter Tight" pitchFamily="34" charset="0"/>
              </a:rPr>
              <a:t>Analyst  ·  Research Team  ·  Digital Asset Team</a:t>
            </a:r>
          </a:p>
        </p:txBody>
      </p:sp>
      <p:sp>
        <p:nvSpPr>
          <p:cNvPr id="15" name="t15"/>
          <p:cNvSpPr/>
          <p:nvPr/>
        </p:nvSpPr>
        <p:spPr>
          <a:xfrm>
            <a:off x="4800600" y="333756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0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Full behavioral analysis: formation timeline, archetype classification, capital profile, ecosystem connections, institutional implications and contradictory evidence. Every unknown documented explicitly.</a:t>
            </a:r>
          </a:p>
        </p:txBody>
      </p:sp>
      <p:sp>
        <p:nvSpPr>
          <p:cNvPr id="16" name="card16"/>
          <p:cNvSpPr/>
          <p:nvPr/>
        </p:nvSpPr>
        <p:spPr>
          <a:xfrm>
            <a:off x="8321040" y="1828800"/>
            <a:ext cx="3474720" cy="384048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17" name="t17"/>
          <p:cNvSpPr/>
          <p:nvPr/>
        </p:nvSpPr>
        <p:spPr>
          <a:xfrm>
            <a:off x="8549640" y="2057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LEVEL 3</a:t>
            </a:r>
          </a:p>
        </p:txBody>
      </p:sp>
      <p:sp>
        <p:nvSpPr>
          <p:cNvPr id="18" name="t18"/>
          <p:cNvSpPr/>
          <p:nvPr/>
        </p:nvSpPr>
        <p:spPr>
          <a:xfrm>
            <a:off x="8549640" y="2331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2000"/>
              </a:lnSpc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Technical Audit Report</a:t>
            </a:r>
          </a:p>
        </p:txBody>
      </p:sp>
      <p:sp>
        <p:nvSpPr>
          <p:cNvPr id="19" name="l19"/>
          <p:cNvSpPr/>
          <p:nvPr/>
        </p:nvSpPr>
        <p:spPr>
          <a:xfrm>
            <a:off x="8549640" y="292608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20" name="t20"/>
          <p:cNvSpPr/>
          <p:nvPr/>
        </p:nvSpPr>
        <p:spPr>
          <a:xfrm>
            <a:off x="8549640" y="3063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0" i="0" kern="0" dirty="0">
                <a:solidFill>
                  <a:srgbClr val="a5dce8"/>
                </a:solidFill>
                <a:latin typeface="Inter Tight" pitchFamily="34" charset="0"/>
              </a:rPr>
              <a:t>Compliance  ·  Audit  ·  Due Diligence  ·  Engineering</a:t>
            </a:r>
          </a:p>
        </p:txBody>
      </p:sp>
      <p:sp>
        <p:nvSpPr>
          <p:cNvPr id="21" name="t21"/>
          <p:cNvSpPr/>
          <p:nvPr/>
        </p:nvSpPr>
        <p:spPr>
          <a:xfrm>
            <a:off x="8549640" y="333756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0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Every conclusion in Levels 1 and 2 traces to specific on-chain evidence here. Query IDs, exact selectors, reproducible commands. Independently verifiable by any quant or compliance team.</a:t>
            </a:r>
          </a:p>
        </p:txBody>
      </p:sp>
      <p:sp>
        <p:nvSpPr>
          <p:cNvPr id="22" name="t22"/>
          <p:cNvSpPr/>
          <p:nvPr/>
        </p:nvSpPr>
        <p:spPr>
          <a:xfrm>
            <a:off x="822960" y="5852520"/>
            <a:ext cx="1060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700"/>
              </a:lnSpc>
            </a:pPr>
            <a:r>
              <a:rPr lang="en-US" sz="1050" b="0" i="1" kern="0" dirty="0">
                <a:solidFill>
                  <a:srgbClr val="b4b8bf"/>
                </a:solidFill>
                <a:latin typeface="Instrument Serif" pitchFamily="34" charset="0"/>
              </a:rPr>
              <a:t>Each report is issued per formation case. Distributed to the designated institutional recipient only.</a:t>
            </a:r>
          </a:p>
        </p:txBody>
      </p:sp>
      <p:sp>
        <p:nvSpPr>
          <p:cNvPr id="97" name="t9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0" i="0" kern="0" dirty="0">
                <a:solidFill>
                  <a:srgbClr val="b4b8bf"/>
                </a:solidFill>
                <a:latin typeface="Inter Tight" pitchFamily="34" charset="0"/>
              </a:rPr>
              <a:t>BCSentinel  ·  Future Formation Intelligence</a:t>
            </a:r>
          </a:p>
        </p:txBody>
      </p:sp>
      <p:sp>
        <p:nvSpPr>
          <p:cNvPr id="98" name="t9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0" i="0" kern="0" dirty="0">
                <a:solidFill>
                  <a:srgbClr val="b4b8bf"/>
                </a:solidFill>
                <a:latin typeface="JetBrains Mono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CANNOT BE REBUILT QUICKLY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is not the code. It is the accumulated knowledge.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764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empirical 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72768" y="216712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formation cases reconstructed by hand, each one traced to a wallet, a transaction, and a public launch date.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48640" cy="54864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06" y="19257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9168" y="1764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signal libraries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59168" y="216712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indicators weighted by discriminative power, derived from confirmed cases rather than assumed.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16600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2768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analytical registries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72768" y="440740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of formation patterns, archetypes, and outcomes — the institutional memory the methodology runs 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4023360"/>
            <a:ext cx="548640" cy="548640"/>
          </a:xfrm>
          <a:prstGeom prst="ellipse">
            <a:avLst/>
          </a:prstGeom>
          <a:solidFill>
            <a:srgbClr val="1FBF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416600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9168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59168" y="440740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can be unwound to the original evidence. Nothing in the record is asserted without a source.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5989320"/>
            <a:ext cx="10424160" cy="0"/>
          </a:xfrm>
          <a:prstGeom prst="line">
            <a:avLst/>
          </a:prstGeom>
          <a:noFill/>
          <a:ln w="12700">
            <a:solidFill>
              <a:srgbClr val="2A2B3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6126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record took years to assemble. It cannot be approximated by faster computation alone.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AS RISK REDUCTION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removes a specific category of uncertainty.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DFF6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878178"/>
            <a:ext cx="175565" cy="1755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185416"/>
            <a:ext cx="0" cy="475488"/>
          </a:xfrm>
          <a:prstGeom prst="line">
            <a:avLst/>
          </a:prstGeom>
          <a:noFill/>
          <a:ln w="15875">
            <a:solidFill>
              <a:srgbClr val="E3E7F2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188720" y="17282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1920" y="17465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underlying thesis hold?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8972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DFF6E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719426"/>
            <a:ext cx="175565" cy="17556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3026664"/>
            <a:ext cx="0" cy="475488"/>
          </a:xfrm>
          <a:prstGeom prst="line">
            <a:avLst/>
          </a:prstGeom>
          <a:noFill/>
          <a:ln w="15875">
            <a:solidFill>
              <a:srgbClr val="E3E7F2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188720" y="25694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risk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31920" y="25877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methodology be implemented reliably?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897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365760" cy="365760"/>
          </a:xfrm>
          <a:prstGeom prst="ellipse">
            <a:avLst/>
          </a:prstGeom>
          <a:solidFill>
            <a:srgbClr val="E4F7F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3560674"/>
            <a:ext cx="175565" cy="17556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3867912"/>
            <a:ext cx="0" cy="475488"/>
          </a:xfrm>
          <a:prstGeom prst="line">
            <a:avLst/>
          </a:prstGeom>
          <a:noFill/>
          <a:ln w="15875">
            <a:solidFill>
              <a:srgbClr val="E3E7F2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1188720" y="3410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risk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931920" y="3429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across a broad, representative case set?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89720" y="3447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306824"/>
            <a:ext cx="365760" cy="365760"/>
          </a:xfrm>
          <a:prstGeom prst="ellipse">
            <a:avLst/>
          </a:prstGeom>
          <a:solidFill>
            <a:srgbClr val="E4F7F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4401922"/>
            <a:ext cx="175565" cy="17556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22960" y="4709160"/>
            <a:ext cx="0" cy="475488"/>
          </a:xfrm>
          <a:prstGeom prst="line">
            <a:avLst/>
          </a:prstGeom>
          <a:noFill/>
          <a:ln w="15875">
            <a:solidFill>
              <a:srgbClr val="E3E7F2"/>
            </a:solidFill>
            <a:prstDash val="dash"/>
          </a:ln>
        </p:spPr>
      </p:sp>
      <p:sp>
        <p:nvSpPr>
          <p:cNvPr id="25" name="Text 19"/>
          <p:cNvSpPr/>
          <p:nvPr/>
        </p:nvSpPr>
        <p:spPr>
          <a:xfrm>
            <a:off x="118872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risk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931920" y="42702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findings be delivered as a usable institutional workflow?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89720" y="4288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5148072"/>
            <a:ext cx="365760" cy="365760"/>
          </a:xfrm>
          <a:prstGeom prst="ellipse">
            <a:avLst/>
          </a:prstGeom>
          <a:solidFill>
            <a:srgbClr val="E4F7F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5243170"/>
            <a:ext cx="175565" cy="1755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risk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3931920" y="51114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institutions adopt and rely on it operationally?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189720" y="51297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0080" y="6080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reduces a specific category of uncertainty before the next is engaged. This is not a launch calendar — it is a record of what has been de-risked.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 ·  Future Formation Intelligence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e-EN">
    <p:bg>
      <p:bgPr>
        <a:solidFill>
          <a:srgbClr val="16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300" kern="0" dirty="0">
                <a:solidFill>
                  <a:srgbClr val="8ec5ff"/>
                </a:solidFill>
                <a:latin typeface="JetBrains Mono" pitchFamily="34" charset="0"/>
              </a:rPr>
              <a:t>WHERE TO START</a:t>
            </a:r>
          </a:p>
        </p:txBody>
      </p:sp>
      <p:sp>
        <p:nvSpPr>
          <p:cNvPr id="3" name="t3"/>
          <p:cNvSpPr/>
          <p:nvPr/>
        </p:nvSpPr>
        <p:spPr>
          <a:xfrm>
            <a:off x="822960" y="731520"/>
            <a:ext cx="1060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ts val="3600"/>
              </a:lnSpc>
            </a:pPr>
            <a:r>
              <a:rPr lang="en-US" sz="3200" b="1" i="0" kern="0" dirty="0">
                <a:solidFill>
                  <a:srgbClr val="f8f9fa"/>
                </a:solidFill>
                <a:latin typeface="Instrument Serif" pitchFamily="34" charset="0"/>
              </a:rPr>
              <a:t>The question is when you start using it.</a:t>
            </a:r>
          </a:p>
        </p:txBody>
      </p:sp>
      <p:sp>
        <p:nvSpPr>
          <p:cNvPr id="4" name="t4"/>
          <p:cNvSpPr/>
          <p:nvPr/>
        </p:nvSpPr>
        <p:spPr>
          <a:xfrm>
            <a:off x="822960" y="1371600"/>
            <a:ext cx="1060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800"/>
              </a:lnSpc>
            </a:pPr>
            <a:r>
              <a:rPr lang="en-US" sz="1200" b="0" i="0" kern="0" dirty="0">
                <a:solidFill>
                  <a:srgbClr val="b4b8bf"/>
                </a:solidFill>
                <a:latin typeface="Inter Tight" pitchFamily="34" charset="0"/>
              </a:rPr>
              <a:t>Three clear steps. No ambiguity about what you receive at each one.</a:t>
            </a:r>
          </a:p>
        </p:txBody>
      </p:sp>
      <p:sp>
        <p:nvSpPr>
          <p:cNvPr id="5" name="l5"/>
          <p:cNvSpPr/>
          <p:nvPr/>
        </p:nvSpPr>
        <p:spPr>
          <a:xfrm>
            <a:off x="822960" y="1737360"/>
            <a:ext cx="1060608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6" name="card6"/>
          <p:cNvSpPr/>
          <p:nvPr/>
        </p:nvSpPr>
        <p:spPr>
          <a:xfrm>
            <a:off x="822960" y="2057400"/>
            <a:ext cx="3474720" cy="365760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7" name="t7"/>
          <p:cNvSpPr/>
          <p:nvPr/>
        </p:nvSpPr>
        <p:spPr>
          <a:xfrm>
            <a:off x="1051560" y="2286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STEP 1</a:t>
            </a:r>
          </a:p>
        </p:txBody>
      </p:sp>
      <p:sp>
        <p:nvSpPr>
          <p:cNvPr id="8" name="t8"/>
          <p:cNvSpPr/>
          <p:nvPr/>
        </p:nvSpPr>
        <p:spPr>
          <a:xfrm>
            <a:off x="105156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Demonstration IIP</a:t>
            </a:r>
          </a:p>
        </p:txBody>
      </p:sp>
      <p:sp>
        <p:nvSpPr>
          <p:cNvPr id="9" name="l9"/>
          <p:cNvSpPr/>
          <p:nvPr/>
        </p:nvSpPr>
        <p:spPr>
          <a:xfrm>
            <a:off x="1051560" y="301752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10" name="t10"/>
          <p:cNvSpPr/>
          <p:nvPr/>
        </p:nvSpPr>
        <p:spPr>
          <a:xfrm>
            <a:off x="1051560" y="3154680"/>
            <a:ext cx="3017520" cy="2285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5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A complete IIP on a protocol already public and independently verifiable on Etherscan. Every data point can be checked. Its purpose is not intelligence — it is understanding the format, the methodology and the depth of each level before seeing live intelligence.</a:t>
            </a:r>
          </a:p>
        </p:txBody>
      </p:sp>
      <p:sp>
        <p:nvSpPr>
          <p:cNvPr id="11" name="card11"/>
          <p:cNvSpPr/>
          <p:nvPr/>
        </p:nvSpPr>
        <p:spPr>
          <a:xfrm>
            <a:off x="4572000" y="2057400"/>
            <a:ext cx="3474720" cy="365760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12" name="t12"/>
          <p:cNvSpPr/>
          <p:nvPr/>
        </p:nvSpPr>
        <p:spPr>
          <a:xfrm>
            <a:off x="4800600" y="2286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STEP 2</a:t>
            </a:r>
          </a:p>
        </p:txBody>
      </p:sp>
      <p:sp>
        <p:nvSpPr>
          <p:cNvPr id="13" name="t13"/>
          <p:cNvSpPr/>
          <p:nvPr/>
        </p:nvSpPr>
        <p:spPr>
          <a:xfrm>
            <a:off x="480060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Pilot</a:t>
            </a:r>
          </a:p>
        </p:txBody>
      </p:sp>
      <p:sp>
        <p:nvSpPr>
          <p:cNvPr id="14" name="l14"/>
          <p:cNvSpPr/>
          <p:nvPr/>
        </p:nvSpPr>
        <p:spPr>
          <a:xfrm>
            <a:off x="4800600" y="301752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15" name="t15"/>
          <p:cNvSpPr/>
          <p:nvPr/>
        </p:nvSpPr>
        <p:spPr>
          <a:xfrm>
            <a:off x="4800600" y="3154680"/>
            <a:ext cx="3017520" cy="2285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5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One real IIP. One live case. Scoped to your category of interest. A protocol that has not yet launched publicly — real intelligence, real formation evidence, real lead time. This is the product working.</a:t>
            </a:r>
          </a:p>
        </p:txBody>
      </p:sp>
      <p:sp>
        <p:nvSpPr>
          <p:cNvPr id="16" name="card16"/>
          <p:cNvSpPr/>
          <p:nvPr/>
        </p:nvSpPr>
        <p:spPr>
          <a:xfrm>
            <a:off x="8321040" y="2057400"/>
            <a:ext cx="3474720" cy="3657600"/>
          </a:xfrm>
          <a:prstGeom prst="roundRect">
            <a:avLst>
              <a:gd name="adj" fmla="val 3810"/>
            </a:avLst>
          </a:prstGeom>
          <a:solidFill>
            <a:srgbClr val="1e2638"/>
          </a:solidFill>
          <a:ln/>
        </p:spPr>
      </p:sp>
      <p:sp>
        <p:nvSpPr>
          <p:cNvPr id="17" name="t17"/>
          <p:cNvSpPr/>
          <p:nvPr/>
        </p:nvSpPr>
        <p:spPr>
          <a:xfrm>
            <a:off x="8549640" y="2286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i="0" spc="200" kern="0" dirty="0">
                <a:solidFill>
                  <a:srgbClr val="8ec5ff"/>
                </a:solidFill>
                <a:latin typeface="JetBrains Mono" pitchFamily="34" charset="0"/>
              </a:rPr>
              <a:t>STEP 3</a:t>
            </a:r>
          </a:p>
        </p:txBody>
      </p:sp>
      <p:sp>
        <p:nvSpPr>
          <p:cNvPr id="18" name="t18"/>
          <p:cNvSpPr/>
          <p:nvPr/>
        </p:nvSpPr>
        <p:spPr>
          <a:xfrm>
            <a:off x="854964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i="0" kern="0" dirty="0">
                <a:solidFill>
                  <a:srgbClr val="f8f9fa"/>
                </a:solidFill>
                <a:latin typeface="Instrument Serif" pitchFamily="34" charset="0"/>
              </a:rPr>
              <a:t>Recurring Service</a:t>
            </a:r>
          </a:p>
        </p:txBody>
      </p:sp>
      <p:sp>
        <p:nvSpPr>
          <p:cNvPr id="19" name="l19"/>
          <p:cNvSpPr/>
          <p:nvPr/>
        </p:nvSpPr>
        <p:spPr>
          <a:xfrm>
            <a:off x="8549640" y="3017520"/>
            <a:ext cx="3017520" cy="0"/>
          </a:xfrm>
          <a:prstGeom prst="line">
            <a:avLst/>
          </a:prstGeom>
          <a:noFill/>
          <a:ln w="9525">
            <a:solidFill>
              <a:srgbClr val="2a3550"/>
            </a:solidFill>
          </a:ln>
        </p:spPr>
      </p:sp>
      <p:sp>
        <p:nvSpPr>
          <p:cNvPr id="20" name="t20"/>
          <p:cNvSpPr/>
          <p:nvPr/>
        </p:nvSpPr>
        <p:spPr>
          <a:xfrm>
            <a:off x="8549640" y="3154680"/>
            <a:ext cx="3017520" cy="2285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ts val="1650"/>
              </a:lnSpc>
            </a:pPr>
            <a:r>
              <a:rPr lang="en-US" sz="1050" b="0" i="0" kern="0" dirty="0">
                <a:solidFill>
                  <a:srgbClr val="b4b8bf"/>
                </a:solidFill>
                <a:latin typeface="Inter Tight" pitchFamily="34" charset="0"/>
              </a:rPr>
              <a:t>IIPs delivered on agreed cadence as BCSentinel detects formation cases in your domain. Each report issued per case, distributed exclusively to the designated institutional recipient.</a:t>
            </a:r>
          </a:p>
        </p:txBody>
      </p:sp>
      <p:sp>
        <p:nvSpPr>
          <p:cNvPr id="97" name="t9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0" i="0" kern="0" dirty="0">
                <a:solidFill>
                  <a:srgbClr val="b4b8bf"/>
                </a:solidFill>
                <a:latin typeface="Inter Tight" pitchFamily="34" charset="0"/>
              </a:rPr>
              <a:t>BCSentinel  ·  Future Formation Intelligence</a:t>
            </a:r>
          </a:p>
        </p:txBody>
      </p:sp>
      <p:sp>
        <p:nvSpPr>
          <p:cNvPr id="98" name="t9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0" i="0" kern="0" dirty="0">
                <a:solidFill>
                  <a:srgbClr val="b4b8bf"/>
                </a:solidFill>
                <a:latin typeface="JetBrains Mono" pitchFamily="34" charset="0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BCSentinel — Future Formation Intelligence</dc:title>
  <dc:subject>PptxGenJS Presentation</dc:subject>
  <dc:creator>BCSentinel AI</dc:creator>
  <cp:lastModifiedBy>BCSentinel AI</cp:lastModifiedBy>
  <cp:revision>1</cp:revision>
  <dcterms:created xsi:type="dcterms:W3CDTF">2026-06-30T16:04:58Z</dcterms:created>
  <dcterms:modified xsi:type="dcterms:W3CDTF">2026-06-30T16:04:58Z</dcterms:modified>
</cp:coreProperties>
</file>